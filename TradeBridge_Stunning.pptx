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2563E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 rot="600000">
            <a:off x="4572000" y="4114800"/>
            <a:ext cx="6400800" cy="3657600"/>
          </a:xfrm>
          <a:prstGeom prst="wav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 rot="20400000">
            <a:off x="-1828800" y="-914400"/>
            <a:ext cx="4572000" cy="3200400"/>
          </a:xfrm>
          <a:prstGeom prst="wav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TradeBridge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0A5FA"/>
                </a:solidFill>
              </a:defRPr>
            </a:pPr>
            <a:r>
              <a:t>Smart Supply-Demand Management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206240"/>
            <a:ext cx="5486400" cy="10058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Adama Science and Technology University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College of Electrical Engineering and Computing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Hidaya Nurmeka  |  Ebisa Gutema  |  Hana Kebede  |  Hana Jote  |  Ilham Mohammedhassen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Advisor: Dr. Ejigu Tefere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1800000">
            <a:off x="7772400" y="-274320"/>
            <a:ext cx="1828800" cy="1828800"/>
          </a:xfrm>
          <a:prstGeom prst="hexagon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-457200" y="5029200"/>
            <a:ext cx="1371600" cy="1371600"/>
          </a:xfrm>
          <a:prstGeom prst="hexagon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Presentation 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931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801368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Problem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3931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807208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803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System 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3931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813048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86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Key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3931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4818888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920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System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69280"/>
            <a:ext cx="3931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582472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897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Technology Stack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645920"/>
            <a:ext cx="3931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00600" y="1801368"/>
            <a:ext cx="548640" cy="5486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18745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User Roles &amp; Database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2651760"/>
            <a:ext cx="3931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00600" y="2807208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8803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Machine Learning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3657600"/>
            <a:ext cx="3931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00600" y="3813048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886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Benefits &amp; Impact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4663440"/>
            <a:ext cx="3931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00600" y="4818888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8920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Feasibility &amp; Timeline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69280"/>
            <a:ext cx="3931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00600" y="5824728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897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 rot="900000">
            <a:off x="4572000" y="3657600"/>
            <a:ext cx="5486400" cy="3657600"/>
          </a:xfrm>
          <a:prstGeom prst="wav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 rot="19800000">
            <a:off x="-914400" y="-457200"/>
            <a:ext cx="3657600" cy="2743200"/>
          </a:xfrm>
          <a:prstGeom prst="wav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Supply Chain Challenges in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93192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entagon 7"/>
          <p:cNvSpPr/>
          <p:nvPr/>
        </p:nvSpPr>
        <p:spPr>
          <a:xfrm>
            <a:off x="822960" y="2011680"/>
            <a:ext cx="640080" cy="640080"/>
          </a:xfrm>
          <a:prstGeom prst="homePlat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96596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Manual, time-consuming procurement processes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45920"/>
            <a:ext cx="393192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4937760" y="2011680"/>
            <a:ext cx="640080" cy="640080"/>
          </a:xfrm>
          <a:prstGeom prst="cloud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96596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Lack of centralized B2B marketplace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40"/>
            <a:ext cx="393192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822960" y="3657600"/>
            <a:ext cx="640080" cy="640080"/>
          </a:xfrm>
          <a:prstGeom prst="parallelogram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61188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Poor demand planning and forecasting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291840"/>
            <a:ext cx="393192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vel 16"/>
          <p:cNvSpPr/>
          <p:nvPr/>
        </p:nvSpPr>
        <p:spPr>
          <a:xfrm>
            <a:off x="4937760" y="3657600"/>
            <a:ext cx="640080" cy="640080"/>
          </a:xfrm>
          <a:prstGeom prst="bevel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361188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Limited supplier visibility and comparison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393192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822960" y="5303520"/>
            <a:ext cx="640080" cy="640080"/>
          </a:xfrm>
          <a:prstGeom prst="chevron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525780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Inefficient stakeholder communication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937760"/>
            <a:ext cx="393192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ube 22"/>
          <p:cNvSpPr/>
          <p:nvPr/>
        </p:nvSpPr>
        <p:spPr>
          <a:xfrm>
            <a:off x="4937760" y="5303520"/>
            <a:ext cx="640080" cy="640080"/>
          </a:xfrm>
          <a:prstGeom prst="cub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525780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Stock shortages and delivery delays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DBEAFE"/>
            </a:gs>
          </a:gsLst>
          <a:lin scaled="0" ang="108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Introducing TradeBridge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7680960" cy="1463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7680960" cy="146304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6949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 comprehensive B2B digital platform connecting retailers, factories, distributors, and delivery personnel to streamline bulk ordering, improve supply chain transparency, and enable data-driven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192024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3840480"/>
            <a:ext cx="7315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Retailers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Browse, compare,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474720"/>
            <a:ext cx="192024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entagon 12"/>
          <p:cNvSpPr/>
          <p:nvPr/>
        </p:nvSpPr>
        <p:spPr>
          <a:xfrm>
            <a:off x="3566160" y="3840480"/>
            <a:ext cx="731520" cy="731520"/>
          </a:xfrm>
          <a:prstGeom prst="homePlat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7091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</a:defRPr>
            </a:pPr>
            <a:r>
              <a:t>Factories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5120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Manage products, forecasts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474720"/>
            <a:ext cx="192024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ube 16"/>
          <p:cNvSpPr/>
          <p:nvPr/>
        </p:nvSpPr>
        <p:spPr>
          <a:xfrm>
            <a:off x="5715000" y="3840480"/>
            <a:ext cx="731520" cy="731520"/>
          </a:xfrm>
          <a:prstGeom prst="cub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7091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Distributors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120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Inventory, fulfillment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474720"/>
            <a:ext cx="192024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863840" y="3840480"/>
            <a:ext cx="731520" cy="7315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47091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5120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Track routes,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5029200"/>
            <a:ext cx="2743200" cy="2743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572000"/>
            <a:ext cx="2286000" cy="2286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931920" cy="45720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931920" cy="4572000"/>
          </a:xfrm>
          <a:prstGeom prst="roundRect">
            <a:avLst/>
          </a:prstGeom>
          <a:gradFill rotWithShape="1">
            <a:gsLst>
              <a:gs pos="0">
                <a:srgbClr val="22C55E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 SCOPE</a:t>
            </a:r>
          </a:p>
        </p:txBody>
      </p:sp>
      <p:sp>
        <p:nvSpPr>
          <p:cNvPr id="11" name="Donut 10"/>
          <p:cNvSpPr/>
          <p:nvPr/>
        </p:nvSpPr>
        <p:spPr>
          <a:xfrm>
            <a:off x="2148840" y="2286000"/>
            <a:ext cx="731520" cy="731520"/>
          </a:xfrm>
          <a:prstGeom prst="don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  Food and beverage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  Micro to large-sized enterprises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  Ethiopian market (ETB currency)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  Mobile &amp; Web 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  Distribution of finished goods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554480"/>
            <a:ext cx="3931920" cy="457200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3440" y="1554480"/>
            <a:ext cx="3931920" cy="4572000"/>
          </a:xfrm>
          <a:prstGeom prst="roundRect">
            <a:avLst/>
          </a:prstGeom>
          <a:gradFill rotWithShape="1">
            <a:gsLst>
              <a:gs pos="0">
                <a:srgbClr val="F43F5E"/>
              </a:gs>
              <a:gs pos="100000">
                <a:srgbClr val="BE123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7373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OUT OF SCOPE</a:t>
            </a:r>
          </a:p>
        </p:txBody>
      </p:sp>
      <p:sp>
        <p:nvSpPr>
          <p:cNvPr id="20" name="Cross 19"/>
          <p:cNvSpPr/>
          <p:nvPr/>
        </p:nvSpPr>
        <p:spPr>
          <a:xfrm>
            <a:off x="6263640" y="2286000"/>
            <a:ext cx="731520" cy="731520"/>
          </a:xfrm>
          <a:prstGeom prst="plus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200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  Raw material procurement between factories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86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  International trade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572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  Very large national producers (e.g., Wenji Sugar)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 rot="900000">
            <a:off x="4572000" y="3657600"/>
            <a:ext cx="5486400" cy="3657600"/>
          </a:xfrm>
          <a:prstGeom prst="wav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 rot="19800000">
            <a:off x="-914400" y="-457200"/>
            <a:ext cx="3657600" cy="2743200"/>
          </a:xfrm>
          <a:prstGeom prst="wav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768096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7680960" cy="100584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Design and develop a digital platform to streamline B2B procurement and enhance supply chain visibility across Ethiopia.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743200"/>
            <a:ext cx="69494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vel 10"/>
          <p:cNvSpPr/>
          <p:nvPr/>
        </p:nvSpPr>
        <p:spPr>
          <a:xfrm>
            <a:off x="1371600" y="2852928"/>
            <a:ext cx="502920" cy="502920"/>
          </a:xfrm>
          <a:prstGeom prst="bevel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880360"/>
            <a:ext cx="5760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Develop Web &amp; Mobile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611880"/>
            <a:ext cx="69494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entagon 13"/>
          <p:cNvSpPr/>
          <p:nvPr/>
        </p:nvSpPr>
        <p:spPr>
          <a:xfrm>
            <a:off x="1371600" y="3721608"/>
            <a:ext cx="502920" cy="502920"/>
          </a:xfrm>
          <a:prstGeom prst="homePlat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3749040"/>
            <a:ext cx="5760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Implement ML-based Supplier Recommendation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480560"/>
            <a:ext cx="69494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1371600" y="4590288"/>
            <a:ext cx="502920" cy="502920"/>
          </a:xfrm>
          <a:prstGeom prst="parallelogram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4617720"/>
            <a:ext cx="5760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Introduce Demand Forecasting Capabilities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349240"/>
            <a:ext cx="69494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1371600" y="5458968"/>
            <a:ext cx="502920" cy="50292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5486400"/>
            <a:ext cx="5760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Enable Real-time Communication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6217920"/>
            <a:ext cx="69494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1371600" y="6327648"/>
            <a:ext cx="502920" cy="502920"/>
          </a:xfrm>
          <a:prstGeom prst="ca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6355080"/>
            <a:ext cx="5760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Provide Centralized Supplier Directory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1800000">
            <a:off x="7772400" y="-274320"/>
            <a:ext cx="1828800" cy="1828800"/>
          </a:xfrm>
          <a:prstGeom prst="hexagon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-457200" y="5029200"/>
            <a:ext cx="1371600" cy="1371600"/>
          </a:xfrm>
          <a:prstGeom prst="hexagon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Platform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DCFF"/>
                </a:solidFill>
              </a:defRPr>
            </a:pPr>
            <a:r>
              <a:t>For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4023360" cy="4572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4023360" cy="457200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1D4ED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1737360"/>
            <a:ext cx="640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FOR RETAILERS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Browse and compare products from multiple suppliers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Place bulk orders with cart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Track order status in 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Rate and review suppliers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Receive personalized recommendations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554480"/>
            <a:ext cx="4023360" cy="4572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3440" y="1554480"/>
            <a:ext cx="4023360" cy="4572000"/>
          </a:xfrm>
          <a:prstGeom prst="roundRect">
            <a:avLst/>
          </a:prstGeom>
          <a:gradFill rotWithShape="1">
            <a:gsLst>
              <a:gs pos="0">
                <a:srgbClr val="F59E0B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entagon 18"/>
          <p:cNvSpPr/>
          <p:nvPr/>
        </p:nvSpPr>
        <p:spPr>
          <a:xfrm>
            <a:off x="6217920" y="1737360"/>
            <a:ext cx="640080" cy="640080"/>
          </a:xfrm>
          <a:prstGeom prst="homePlat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FOR SUPPLIERS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1089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Manage product listings and inventory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7947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Approve or reject incoming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4805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Broadcast promotional announcements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166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View demand analytics and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 rot="900000">
            <a:off x="4572000" y="3657600"/>
            <a:ext cx="5486400" cy="3657600"/>
          </a:xfrm>
          <a:prstGeom prst="wav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 rot="19800000">
            <a:off x="-914400" y="-457200"/>
            <a:ext cx="3657600" cy="2743200"/>
          </a:xfrm>
          <a:prstGeom prst="wav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Smart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DCFF"/>
                </a:solidFill>
              </a:defRPr>
            </a:pPr>
            <a:r>
              <a:t>Machine Learning Powered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8046720" cy="12801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8046720" cy="1280160"/>
          </a:xfrm>
          <a:prstGeom prst="roundRect">
            <a:avLst/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entagon 9"/>
          <p:cNvSpPr/>
          <p:nvPr/>
        </p:nvSpPr>
        <p:spPr>
          <a:xfrm>
            <a:off x="914400" y="1783080"/>
            <a:ext cx="822960" cy="822960"/>
          </a:xfrm>
          <a:prstGeom prst="homePlat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691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Supplier Recommendation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488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CC8FF"/>
                </a:solidFill>
              </a:defRPr>
            </a:pPr>
            <a:r>
              <a:t>Ranks suppliers based on price, distance, performance, and preferences using Random Forest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8046720" cy="12801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8046720" cy="1280160"/>
          </a:xfrm>
          <a:prstGeom prst="roundRect">
            <a:avLst/>
          </a:prstGeom>
          <a:gradFill rotWithShape="1">
            <a:gsLst>
              <a:gs pos="0">
                <a:srgbClr val="14B8A6"/>
              </a:gs>
              <a:gs pos="100000">
                <a:srgbClr val="0D948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914400" y="3246120"/>
            <a:ext cx="822960" cy="82296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154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Demand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611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8F0EB"/>
                </a:solidFill>
              </a:defRPr>
            </a:pPr>
            <a:r>
              <a:t>Predicts future demand using historical data, moving averages, and seasonality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92024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vel 18"/>
          <p:cNvSpPr/>
          <p:nvPr/>
        </p:nvSpPr>
        <p:spPr>
          <a:xfrm>
            <a:off x="1188720" y="4754880"/>
            <a:ext cx="548640" cy="548640"/>
          </a:xfrm>
          <a:prstGeom prst="bevel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Real-time GPS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40" y="4572000"/>
            <a:ext cx="192024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3246120" y="4754880"/>
            <a:ext cx="548640" cy="548640"/>
          </a:xfrm>
          <a:prstGeom prst="diamond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5349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Chapa Payment Gateway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4572000"/>
            <a:ext cx="192024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5303520" y="4754880"/>
            <a:ext cx="548640" cy="548640"/>
          </a:xfrm>
          <a:prstGeom prst="chevr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5349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Automated Notifications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4572000"/>
            <a:ext cx="192024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60920" y="47548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5349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In-App Messaging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Three-Tier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554480"/>
            <a:ext cx="6949440" cy="1371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6949440" cy="1371600"/>
          </a:xfrm>
          <a:prstGeom prst="roundRect">
            <a:avLst/>
          </a:prstGeom>
          <a:gradFill rotWithShape="1">
            <a:gsLst>
              <a:gs pos="0">
                <a:srgbClr val="2563EB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73736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4028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E6F0FF"/>
                </a:solidFill>
              </a:defRPr>
            </a:pPr>
            <a:r>
              <a:t>Mobile App (Android)  •  Web Application  •  User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00400"/>
            <a:ext cx="6949440" cy="13716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200400"/>
            <a:ext cx="6949440" cy="1371600"/>
          </a:xfrm>
          <a:prstGeom prst="roundRect">
            <a:avLst/>
          </a:prstGeom>
          <a:gradFill rotWithShape="1">
            <a:gsLst>
              <a:gs pos="0">
                <a:srgbClr val="14B8A6"/>
              </a:gs>
              <a:gs pos="100000">
                <a:srgbClr val="14B8A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862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E6F0FF"/>
                </a:solidFill>
              </a:defRPr>
            </a:pPr>
            <a:r>
              <a:t>Node.js + Express  •  Authentication  •  Business Logic  •  ML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846320"/>
            <a:ext cx="6949440" cy="1371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846320"/>
            <a:ext cx="6949440" cy="1371600"/>
          </a:xfrm>
          <a:prstGeom prst="roundRect">
            <a:avLst/>
          </a:prstGeom>
          <a:gradFill rotWithShape="1">
            <a:gsLst>
              <a:gs pos="0">
                <a:srgbClr val="F59E0B"/>
              </a:gs>
              <a:gs pos="100000">
                <a:srgbClr val="F59E0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02920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5321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E6F0FF"/>
                </a:solidFill>
              </a:defRPr>
            </a:pPr>
            <a:r>
              <a:t>MySQL Database  •  User Data  •  Products &amp; Orders  •  Analytics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114800" y="2971800"/>
            <a:ext cx="914400" cy="36576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4114800" y="4617720"/>
            <a:ext cx="914400" cy="36576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1800000">
            <a:off x="7772400" y="-274320"/>
            <a:ext cx="1828800" cy="1828800"/>
          </a:xfrm>
          <a:prstGeom prst="hexagon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-457200" y="5029200"/>
            <a:ext cx="1371600" cy="1371600"/>
          </a:xfrm>
          <a:prstGeom prst="hexagon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768096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vel 7"/>
          <p:cNvSpPr/>
          <p:nvPr/>
        </p:nvSpPr>
        <p:spPr>
          <a:xfrm>
            <a:off x="1005840" y="1691640"/>
            <a:ext cx="548640" cy="548640"/>
          </a:xfrm>
          <a:prstGeom prst="bevel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69164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3736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React.js with TypeScript  •  Tailwind CSS  •  Zustand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768096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entagon 11"/>
          <p:cNvSpPr/>
          <p:nvPr/>
        </p:nvSpPr>
        <p:spPr>
          <a:xfrm>
            <a:off x="1005840" y="2651760"/>
            <a:ext cx="548640" cy="548640"/>
          </a:xfrm>
          <a:prstGeom prst="homePlat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65176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974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Node.js with Express  •  JWT Authentication  •  RESTful APIs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768096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1005840" y="3611880"/>
            <a:ext cx="548640" cy="548640"/>
          </a:xfrm>
          <a:prstGeom prst="ca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61188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6576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MySQL with Sequelize 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768096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1005840" y="4572000"/>
            <a:ext cx="548640" cy="548640"/>
          </a:xfrm>
          <a:prstGeom prst="parallelogram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457200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Machine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61772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Python  •  Scikit-learn  •  Pandas  •  NumPy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768096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1005840" y="5532120"/>
            <a:ext cx="548640" cy="548640"/>
          </a:xfrm>
          <a:prstGeom prst="diamond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553212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57784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Chapa Payment Gateway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 rot="900000">
            <a:off x="4572000" y="3657600"/>
            <a:ext cx="5486400" cy="3657600"/>
          </a:xfrm>
          <a:prstGeom prst="wav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 rot="19800000">
            <a:off x="-914400" y="-457200"/>
            <a:ext cx="3657600" cy="2743200"/>
          </a:xfrm>
          <a:prstGeom prst="wav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Multi-Role Access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768096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691640"/>
            <a:ext cx="54864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691640"/>
            <a:ext cx="1645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Retailer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Browse products, Place orders, Track deliveries, Rate suppliers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768096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entagon 11"/>
          <p:cNvSpPr/>
          <p:nvPr/>
        </p:nvSpPr>
        <p:spPr>
          <a:xfrm>
            <a:off x="1005840" y="2606040"/>
            <a:ext cx="548640" cy="548640"/>
          </a:xfrm>
          <a:prstGeom prst="homePlat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606040"/>
            <a:ext cx="1645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5176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Manage products, Approve orders, View demand forecasts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768096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ube 15"/>
          <p:cNvSpPr/>
          <p:nvPr/>
        </p:nvSpPr>
        <p:spPr>
          <a:xfrm>
            <a:off x="1005840" y="3520440"/>
            <a:ext cx="548640" cy="548640"/>
          </a:xfrm>
          <a:prstGeom prst="cub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520440"/>
            <a:ext cx="1645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Distributor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56616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Buy &amp; sell, Manage inventory, Fulfill orders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768096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1005840" y="4434840"/>
            <a:ext cx="548640" cy="5486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4434840"/>
            <a:ext cx="1645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Driver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48056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View assignments, Update delivery status, Track routes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12080"/>
            <a:ext cx="768096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1005840" y="5349240"/>
            <a:ext cx="548640" cy="548640"/>
          </a:xfrm>
          <a:prstGeom prst="diamond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5349240"/>
            <a:ext cx="1645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39496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Manage users, Approve suppliers, Monitor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5029200"/>
            <a:ext cx="2743200" cy="2743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572000"/>
            <a:ext cx="2286000" cy="2286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Data Entities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2468880" cy="2103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92024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F0FF"/>
                </a:solidFill>
              </a:defRPr>
            </a:pPr>
            <a:r>
              <a:t>Retailers, suppliers,</a:t>
            </a:r>
          </a:p>
          <a:p>
            <a:r>
              <a:t>drivers, admins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645920"/>
            <a:ext cx="2468880" cy="21031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ube 12"/>
          <p:cNvSpPr/>
          <p:nvPr/>
        </p:nvSpPr>
        <p:spPr>
          <a:xfrm>
            <a:off x="4023360" y="1920240"/>
            <a:ext cx="822960" cy="822960"/>
          </a:xfrm>
          <a:prstGeom prst="cub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834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F0FF"/>
                </a:solidFill>
              </a:defRPr>
            </a:pPr>
            <a:r>
              <a:t>Name, price, stock,</a:t>
            </a:r>
          </a:p>
          <a:p>
            <a:r>
              <a:t>MOQ, images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645920"/>
            <a:ext cx="2468880" cy="21031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vel 16"/>
          <p:cNvSpPr/>
          <p:nvPr/>
        </p:nvSpPr>
        <p:spPr>
          <a:xfrm>
            <a:off x="6675120" y="1920240"/>
            <a:ext cx="822960" cy="822960"/>
          </a:xfrm>
          <a:prstGeom prst="bevel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834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F0FF"/>
                </a:solidFill>
              </a:defRPr>
            </a:pPr>
            <a:r>
              <a:t>Status, items,</a:t>
            </a:r>
          </a:p>
          <a:p>
            <a:r>
              <a:t>tracking, payments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23360"/>
            <a:ext cx="2468880" cy="21031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1371600" y="4297680"/>
            <a:ext cx="822960" cy="82296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Messages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F0FF"/>
                </a:solidFill>
              </a:defRPr>
            </a:pPr>
            <a:r>
              <a:t>In-app chat</a:t>
            </a:r>
          </a:p>
          <a:p>
            <a:r>
              <a:t>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4023360"/>
            <a:ext cx="2468880" cy="2103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4023360" y="4297680"/>
            <a:ext cx="822960" cy="82296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5212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Ratings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577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F0FF"/>
                </a:solidFill>
              </a:defRPr>
            </a:pPr>
            <a:r>
              <a:t>Supplier performance</a:t>
            </a:r>
          </a:p>
          <a:p>
            <a:r>
              <a:t>metrics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4023360"/>
            <a:ext cx="2468880" cy="21031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6675120" y="4297680"/>
            <a:ext cx="822960" cy="82296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5212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Payments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577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F0FF"/>
                </a:solidFill>
              </a:defRPr>
            </a:pPr>
            <a:r>
              <a:t>Transactions,</a:t>
            </a:r>
          </a:p>
          <a:p>
            <a:r>
              <a:t>methods, status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Machine Learning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920240" cy="2103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8288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</a:t>
            </a:r>
          </a:p>
          <a:p>
            <a:r>
              <a:t>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DCE6FF"/>
                </a:solidFill>
              </a:defRPr>
            </a:pPr>
            <a:r>
              <a:t>Price, delivery time,</a:t>
            </a:r>
          </a:p>
          <a:p>
            <a:r>
              <a:t>ratings, location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2514600" y="2468880"/>
            <a:ext cx="182880" cy="457200"/>
          </a:xfrm>
          <a:prstGeom prst="chevron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645920"/>
            <a:ext cx="1920240" cy="21031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83280" y="18288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4B8A6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MODEL</a:t>
            </a:r>
          </a:p>
          <a:p>
            <a:r>
              <a:t>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DCE6FF"/>
                </a:solidFill>
              </a:defRPr>
            </a:pPr>
            <a:r>
              <a:t>Random Forest</a:t>
            </a:r>
          </a:p>
          <a:p>
            <a:r>
              <a:t>Classifier</a:t>
            </a:r>
          </a:p>
        </p:txBody>
      </p:sp>
      <p:sp>
        <p:nvSpPr>
          <p:cNvPr id="14" name="Chevron 13"/>
          <p:cNvSpPr/>
          <p:nvPr/>
        </p:nvSpPr>
        <p:spPr>
          <a:xfrm>
            <a:off x="4709160" y="2468880"/>
            <a:ext cx="182880" cy="457200"/>
          </a:xfrm>
          <a:prstGeom prst="chevron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0" y="1645920"/>
            <a:ext cx="1920240" cy="21031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8288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SCORE</a:t>
            </a:r>
          </a:p>
          <a:p>
            <a:r>
              <a:t>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DCE6FF"/>
                </a:solidFill>
              </a:defRPr>
            </a:pPr>
            <a:r>
              <a:t>Rank suppliers</a:t>
            </a:r>
          </a:p>
          <a:p>
            <a:r>
              <a:t>per retailer</a:t>
            </a:r>
          </a:p>
        </p:txBody>
      </p:sp>
      <p:sp>
        <p:nvSpPr>
          <p:cNvPr id="19" name="Chevron 18"/>
          <p:cNvSpPr/>
          <p:nvPr/>
        </p:nvSpPr>
        <p:spPr>
          <a:xfrm>
            <a:off x="6903720" y="2468880"/>
            <a:ext cx="182880" cy="457200"/>
          </a:xfrm>
          <a:prstGeom prst="chevron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0" y="1645920"/>
            <a:ext cx="1920240" cy="21031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0" y="18288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8B5CF6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PERSONALIZE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DCE6FF"/>
                </a:solidFill>
              </a:defRPr>
            </a:pPr>
            <a:r>
              <a:t>User preference</a:t>
            </a:r>
          </a:p>
          <a:p>
            <a:r>
              <a:t>adaptation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80467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Features Used for Ranking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75488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754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Price competitiveness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16636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5166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On-time delivery rate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57784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55778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Quality ratings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0" y="475488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4754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Fulfillment time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0" y="516636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5166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Communication responsiveness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1800000">
            <a:off x="7772400" y="-274320"/>
            <a:ext cx="1828800" cy="1828800"/>
          </a:xfrm>
          <a:prstGeom prst="hexagon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-457200" y="5029200"/>
            <a:ext cx="1371600" cy="1371600"/>
          </a:xfrm>
          <a:prstGeom prst="hexagon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Expected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743200" cy="4572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7432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For Retailers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56032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Faster procurement process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4612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Better price comparison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93192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Improved supplier visibility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61772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Personalized recommendations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1554480"/>
            <a:ext cx="2743200" cy="4572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37560" y="1554480"/>
            <a:ext cx="2743200" cy="6400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691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For Suppliers</a:t>
            </a:r>
          </a:p>
        </p:txBody>
      </p:sp>
      <p:sp>
        <p:nvSpPr>
          <p:cNvPr id="21" name="Oval 20"/>
          <p:cNvSpPr/>
          <p:nvPr/>
        </p:nvSpPr>
        <p:spPr>
          <a:xfrm>
            <a:off x="3611880" y="2560320"/>
            <a:ext cx="2286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4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Expanded market reach</a:t>
            </a:r>
          </a:p>
        </p:txBody>
      </p:sp>
      <p:sp>
        <p:nvSpPr>
          <p:cNvPr id="23" name="Oval 22"/>
          <p:cNvSpPr/>
          <p:nvPr/>
        </p:nvSpPr>
        <p:spPr>
          <a:xfrm>
            <a:off x="3611880" y="3246120"/>
            <a:ext cx="2286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40" y="3154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Direct buyer connections</a:t>
            </a:r>
          </a:p>
        </p:txBody>
      </p:sp>
      <p:sp>
        <p:nvSpPr>
          <p:cNvPr id="25" name="Oval 24"/>
          <p:cNvSpPr/>
          <p:nvPr/>
        </p:nvSpPr>
        <p:spPr>
          <a:xfrm>
            <a:off x="3611880" y="3931920"/>
            <a:ext cx="2286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3840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Reduced manual operations</a:t>
            </a:r>
          </a:p>
        </p:txBody>
      </p:sp>
      <p:sp>
        <p:nvSpPr>
          <p:cNvPr id="27" name="Oval 26"/>
          <p:cNvSpPr/>
          <p:nvPr/>
        </p:nvSpPr>
        <p:spPr>
          <a:xfrm>
            <a:off x="3611880" y="4617720"/>
            <a:ext cx="2286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40" y="4526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Access to demand insights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554480"/>
            <a:ext cx="2743200" cy="4572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1554480"/>
            <a:ext cx="27432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For Industry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256032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Digital transformation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324612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3154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Reduced inefficiencies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393192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3840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Increased transparency</a:t>
            </a:r>
          </a:p>
        </p:txBody>
      </p:sp>
      <p:sp>
        <p:nvSpPr>
          <p:cNvPr id="38" name="Oval 37"/>
          <p:cNvSpPr/>
          <p:nvPr/>
        </p:nvSpPr>
        <p:spPr>
          <a:xfrm>
            <a:off x="6492240" y="461772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4526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Data-driven decisions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 rot="900000">
            <a:off x="4572000" y="3657600"/>
            <a:ext cx="5486400" cy="3657600"/>
          </a:xfrm>
          <a:prstGeom prst="wav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 rot="19800000">
            <a:off x="-914400" y="-457200"/>
            <a:ext cx="3657600" cy="2743200"/>
          </a:xfrm>
          <a:prstGeom prst="wav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Feasibility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743200" cy="4572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entagon 7"/>
          <p:cNvSpPr/>
          <p:nvPr/>
        </p:nvSpPr>
        <p:spPr>
          <a:xfrm>
            <a:off x="1463040" y="1737360"/>
            <a:ext cx="731520" cy="731520"/>
          </a:xfrm>
          <a:prstGeom prst="homePlat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Proven technologies (React, Node.js, MySQL)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Team has required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No specialized hardware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554480"/>
            <a:ext cx="2743200" cy="4572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43400" y="173736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606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</a:defRPr>
            </a:pPr>
            <a:r>
              <a:t>Operational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00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User-friendly interface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840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Supports existing business practices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480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Mobile-first approach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54480"/>
            <a:ext cx="2743200" cy="4572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7223760" y="1737360"/>
            <a:ext cx="731520" cy="731520"/>
          </a:xfrm>
          <a:prstGeom prst="diamond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606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Economic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Low development cost (~9,500 ETB)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40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Open-source technologies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80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Revenue through transaction fees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Development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DCFF"/>
                </a:solidFill>
              </a:defRPr>
            </a:pPr>
            <a:r>
              <a:t>Agile &amp; Incremental 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468880" cy="1645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E6FF"/>
                </a:solidFill>
              </a:defRPr>
            </a:pPr>
            <a:r>
              <a:t>Week 1-2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645920"/>
            <a:ext cx="2468880" cy="1645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103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517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E6FF"/>
                </a:solidFill>
              </a:defRPr>
            </a:pPr>
            <a:r>
              <a:t>Week 3-8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645920"/>
            <a:ext cx="2468880" cy="1645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103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6517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E6FF"/>
                </a:solidFill>
              </a:defRPr>
            </a:pPr>
            <a:r>
              <a:t>Week 8-12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2468880" cy="1645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E6FF"/>
                </a:solidFill>
              </a:defRPr>
            </a:pPr>
            <a:r>
              <a:t>Week 13-15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657600"/>
            <a:ext cx="2468880" cy="1645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1148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634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E6FF"/>
                </a:solidFill>
              </a:defRPr>
            </a:pPr>
            <a:r>
              <a:t>Week 15-16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3657600"/>
            <a:ext cx="2468880" cy="16459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41148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6634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E6FF"/>
                </a:solidFill>
              </a:defRPr>
            </a:pPr>
            <a:r>
              <a:t>Week 17-18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669280"/>
            <a:ext cx="457200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5806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Total Timeline: ~18 weeks (2 semesters)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5029200"/>
            <a:ext cx="2743200" cy="2743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572000"/>
            <a:ext cx="2286000" cy="2286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Challenges &amp; Mitigations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768096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ross 8"/>
          <p:cNvSpPr/>
          <p:nvPr/>
        </p:nvSpPr>
        <p:spPr>
          <a:xfrm>
            <a:off x="1005840" y="1664208"/>
            <a:ext cx="365760" cy="365760"/>
          </a:xfrm>
          <a:prstGeom prst="plus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664208"/>
            <a:ext cx="6675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Limited initial ML training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768096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ross 11"/>
          <p:cNvSpPr/>
          <p:nvPr/>
        </p:nvSpPr>
        <p:spPr>
          <a:xfrm>
            <a:off x="1005840" y="2395728"/>
            <a:ext cx="365760" cy="365760"/>
          </a:xfrm>
          <a:prstGeom prst="plus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395728"/>
            <a:ext cx="6675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Dependency on stable internet connectivity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768096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ross 14"/>
          <p:cNvSpPr/>
          <p:nvPr/>
        </p:nvSpPr>
        <p:spPr>
          <a:xfrm>
            <a:off x="1005840" y="3127248"/>
            <a:ext cx="365760" cy="365760"/>
          </a:xfrm>
          <a:prstGeom prst="plus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127248"/>
            <a:ext cx="6675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Resistance to digital adoption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40"/>
            <a:ext cx="768096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ross 17"/>
          <p:cNvSpPr/>
          <p:nvPr/>
        </p:nvSpPr>
        <p:spPr>
          <a:xfrm>
            <a:off x="1005840" y="3858768"/>
            <a:ext cx="365760" cy="365760"/>
          </a:xfrm>
          <a:prstGeom prst="plus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858768"/>
            <a:ext cx="6675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Reliance on third-party payment providers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7680960" cy="1554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MITIGATION STRATEGIES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120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   Hybrid ML approach (rule-based + data-driven)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778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   Offline capabilities for critical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9436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   Comprehensive user onboarding and support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1800000">
            <a:off x="7772400" y="-274320"/>
            <a:ext cx="1828800" cy="1828800"/>
          </a:xfrm>
          <a:prstGeom prst="hexagon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-457200" y="5029200"/>
            <a:ext cx="1371600" cy="1371600"/>
          </a:xfrm>
          <a:prstGeom prst="hexagon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4B8A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402336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ube 7"/>
          <p:cNvSpPr/>
          <p:nvPr/>
        </p:nvSpPr>
        <p:spPr>
          <a:xfrm>
            <a:off x="731520" y="1783080"/>
            <a:ext cx="502920" cy="502920"/>
          </a:xfrm>
          <a:prstGeom prst="cub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Additional product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402336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754880" y="1783080"/>
            <a:ext cx="502920" cy="50292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82880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AI-powered chatbot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06040"/>
            <a:ext cx="402336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vel 13"/>
          <p:cNvSpPr/>
          <p:nvPr/>
        </p:nvSpPr>
        <p:spPr>
          <a:xfrm>
            <a:off x="731520" y="2743200"/>
            <a:ext cx="502920" cy="502920"/>
          </a:xfrm>
          <a:prstGeom prst="bevel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78892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iOS mobile application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606040"/>
            <a:ext cx="402336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loud 16"/>
          <p:cNvSpPr/>
          <p:nvPr/>
        </p:nvSpPr>
        <p:spPr>
          <a:xfrm>
            <a:off x="4754880" y="2743200"/>
            <a:ext cx="502920" cy="502920"/>
          </a:xfrm>
          <a:prstGeom prst="cloud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78892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Multi-language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66160"/>
            <a:ext cx="402336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731520" y="3703320"/>
            <a:ext cx="502920" cy="502920"/>
          </a:xfrm>
          <a:prstGeom prst="parallelogram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74904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Advanced analytics dashboards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566160"/>
            <a:ext cx="402336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entagon 22"/>
          <p:cNvSpPr/>
          <p:nvPr/>
        </p:nvSpPr>
        <p:spPr>
          <a:xfrm>
            <a:off x="4754880" y="3703320"/>
            <a:ext cx="502920" cy="502920"/>
          </a:xfrm>
          <a:prstGeom prst="homePlat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374904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ERP system integration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26280"/>
            <a:ext cx="402336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31520" y="4663440"/>
            <a:ext cx="502920" cy="5029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470916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Logistics optimization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526280"/>
            <a:ext cx="402336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4754880" y="4663440"/>
            <a:ext cx="502920" cy="502920"/>
          </a:xfrm>
          <a:prstGeom prst="hexag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470916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Blockchain transparency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2563E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>
            <a:off x="5486400" y="4114800"/>
            <a:ext cx="4572000" cy="3200400"/>
          </a:xfrm>
          <a:prstGeom prst="wav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6949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TradeBridge Delivers: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51460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24688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Centralized B2B marketplace for Ethiopian wholesale</a:t>
            </a:r>
          </a:p>
        </p:txBody>
      </p:sp>
      <p:sp>
        <p:nvSpPr>
          <p:cNvPr id="8" name="Oval 7"/>
          <p:cNvSpPr/>
          <p:nvPr/>
        </p:nvSpPr>
        <p:spPr>
          <a:xfrm>
            <a:off x="1463040" y="297180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9260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Smart supplier recommendations &amp; demand forecasting</a:t>
            </a:r>
          </a:p>
        </p:txBody>
      </p:sp>
      <p:sp>
        <p:nvSpPr>
          <p:cNvPr id="10" name="Oval 9"/>
          <p:cNvSpPr/>
          <p:nvPr/>
        </p:nvSpPr>
        <p:spPr>
          <a:xfrm>
            <a:off x="1463040" y="342900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3832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Real-time tracking &amp; secure payments</a:t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388620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8404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Improved efficiency across the supply 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120640"/>
            <a:ext cx="548640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5257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Prototype Completed - Ready for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B8A6"/>
            </a:gs>
            <a:gs pos="100000">
              <a:srgbClr val="0D9488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274320"/>
            <a:ext cx="1371600" cy="1371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4572000"/>
            <a:ext cx="1828800" cy="18288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5029200"/>
            <a:ext cx="914400" cy="914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20040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891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Advisor: Dr. Ejigu Tefere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Adama Science and Technology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F0EB"/>
                </a:solidFill>
              </a:defRPr>
            </a:pPr>
            <a:r>
              <a:t>Hidaya Nurmeka  |  Ebisa Gutema  |  Hana Kebede  |  Hana Jote  |  Ilham Mohammedhassen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