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563EB"/>
            </a:gs>
            <a:gs pos="100000">
              <a:srgbClr val="3B82F6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TradeBridge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Smart Supply–Demand Management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4389120"/>
            <a:ext cx="5486400" cy="1097280"/>
          </a:xfrm>
          <a:prstGeom prst="roundRect">
            <a:avLst/>
          </a:prstGeom>
          <a:solidFill>
            <a:srgbClr val="64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Adama Science and Technology University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College of Electrical Engineering and Computing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7607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Hidaya Nurmeka • Ebisa Gutema • Hana Kebede • Hana Jote • Ilham Mohammedhassen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2179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Advisor: Dr. Ejigu Tefere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Presentation Outline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371600"/>
            <a:ext cx="31546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Problem Overview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60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423160"/>
            <a:ext cx="31546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System Objectives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6118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474720"/>
            <a:ext cx="31546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Key Features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526280"/>
            <a:ext cx="31546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System Architecture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57150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5577840"/>
            <a:ext cx="31546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Technology Stack</a:t>
            </a:r>
          </a:p>
        </p:txBody>
      </p:sp>
      <p:sp>
        <p:nvSpPr>
          <p:cNvPr id="14" name="Oval 13"/>
          <p:cNvSpPr/>
          <p:nvPr/>
        </p:nvSpPr>
        <p:spPr>
          <a:xfrm>
            <a:off x="4800600" y="15087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371600"/>
            <a:ext cx="31546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Implementation Highlights</a:t>
            </a:r>
          </a:p>
        </p:txBody>
      </p:sp>
      <p:sp>
        <p:nvSpPr>
          <p:cNvPr id="16" name="Oval 15"/>
          <p:cNvSpPr/>
          <p:nvPr/>
        </p:nvSpPr>
        <p:spPr>
          <a:xfrm>
            <a:off x="4800600" y="2560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423160"/>
            <a:ext cx="31546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Machine Learning Integration</a:t>
            </a:r>
          </a:p>
        </p:txBody>
      </p:sp>
      <p:sp>
        <p:nvSpPr>
          <p:cNvPr id="18" name="Oval 17"/>
          <p:cNvSpPr/>
          <p:nvPr/>
        </p:nvSpPr>
        <p:spPr>
          <a:xfrm>
            <a:off x="4800600" y="36118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474720"/>
            <a:ext cx="31546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Benefits &amp; Impact</a:t>
            </a:r>
          </a:p>
        </p:txBody>
      </p:sp>
      <p:sp>
        <p:nvSpPr>
          <p:cNvPr id="20" name="Oval 19"/>
          <p:cNvSpPr/>
          <p:nvPr/>
        </p:nvSpPr>
        <p:spPr>
          <a:xfrm>
            <a:off x="4800600" y="46634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526280"/>
            <a:ext cx="31546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Demo/Prototype</a:t>
            </a:r>
          </a:p>
        </p:txBody>
      </p:sp>
      <p:sp>
        <p:nvSpPr>
          <p:cNvPr id="22" name="Oval 21"/>
          <p:cNvSpPr/>
          <p:nvPr/>
        </p:nvSpPr>
        <p:spPr>
          <a:xfrm>
            <a:off x="4800600" y="57150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577840"/>
            <a:ext cx="31546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Current Supply Chain Challenges in Ethiopia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840480" cy="1371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⏱️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26517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Manual, time-consuming procurement processes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45920"/>
            <a:ext cx="3840480" cy="1371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7830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828800"/>
            <a:ext cx="26517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Lack of centralized B2B marketplace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46120"/>
            <a:ext cx="3840480" cy="1371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429000"/>
            <a:ext cx="26517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Poor demand planning and forecasting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3246120"/>
            <a:ext cx="3840480" cy="1371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33832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429000"/>
            <a:ext cx="26517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Limited supplier visibility and comparison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46320"/>
            <a:ext cx="3840480" cy="1371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9834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029200"/>
            <a:ext cx="26517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Inefficient communication between stakeholders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4846320"/>
            <a:ext cx="3840480" cy="1371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49834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5029200"/>
            <a:ext cx="26517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Stock shortages and delivery delays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9FAF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Introducing TradeBridge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7315200" cy="1645920"/>
          </a:xfrm>
          <a:prstGeom prst="round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A comprehensive B2B digital platform that connects retailers, factories, distributors, and delivery personnel to streamline bulk ordering, improve supply chain transparency, and enable data-driven decision-making in the Ethiopian wholesale market.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40480"/>
            <a:ext cx="1554480" cy="1828800"/>
          </a:xfrm>
          <a:prstGeom prst="roundRect">
            <a:avLst/>
          </a:prstGeom>
          <a:gradFill rotWithShape="1">
            <a:gsLst>
              <a:gs pos="0">
                <a:srgbClr val="10B981"/>
              </a:gs>
              <a:gs pos="100000">
                <a:srgbClr val="059669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/>
            </a:pPr>
            <a:r>
              <a:t>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9377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Retailers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840480"/>
            <a:ext cx="1554480" cy="1828800"/>
          </a:xfrm>
          <a:prstGeom prst="roundRect">
            <a:avLst/>
          </a:prstGeom>
          <a:gradFill rotWithShape="1">
            <a:gsLst>
              <a:gs pos="0">
                <a:srgbClr val="2563EB"/>
              </a:gs>
              <a:gs pos="100000">
                <a:srgbClr val="1D4ED8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11480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/>
            </a:pPr>
            <a:r>
              <a:t>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9377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Factories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3840480"/>
            <a:ext cx="1554480" cy="1828800"/>
          </a:xfrm>
          <a:prstGeom prst="roundRect">
            <a:avLst/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411480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/>
            </a:pPr>
            <a:r>
              <a:t>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9377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Distributors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840480"/>
            <a:ext cx="1554480" cy="1828800"/>
          </a:xfrm>
          <a:prstGeom prst="roundRect">
            <a:avLst/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11480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/>
            </a:pPr>
            <a:r>
              <a:t>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9377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Delivery</a:t>
            </a:r>
          </a:p>
          <a:p>
            <a:r>
              <a:t>Personnel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Scope &amp; Focus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931920" cy="4572000"/>
          </a:xfrm>
          <a:prstGeom prst="roundRect">
            <a:avLst/>
          </a:prstGeom>
          <a:gradFill rotWithShape="1">
            <a:gsLst>
              <a:gs pos="0">
                <a:srgbClr val="10B981"/>
              </a:gs>
              <a:gs pos="100000">
                <a:srgbClr val="059669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✅ In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• Food and beverage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• Micro to large-sized enterprises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• Ethiopian market (ETB currency)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• Mobile &amp; Web platforms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• Distribution of finished goods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463040"/>
            <a:ext cx="3931920" cy="4572000"/>
          </a:xfrm>
          <a:prstGeom prst="roundRect">
            <a:avLst/>
          </a:prstGeom>
          <a:gradFill rotWithShape="1">
            <a:gsLst>
              <a:gs pos="0">
                <a:srgbClr val="EF4444"/>
              </a:gs>
              <a:gs pos="100000">
                <a:srgbClr val="DC2626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6459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❌ Out of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4688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• Raw material procurement between factories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3832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• International trade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2976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• Very large national producers (e.g., Wenji Sugar)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Key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7315200" cy="1005840"/>
          </a:xfrm>
          <a:prstGeom prst="round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General Objective: 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Design and develop a digital platform to streamline B2B procurement and enhance supply chain visibility.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651760"/>
            <a:ext cx="6949440" cy="658368"/>
          </a:xfrm>
          <a:prstGeom prst="roundRect">
            <a:avLst/>
          </a:prstGeom>
          <a:solidFill>
            <a:srgbClr val="F9FAF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697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743200"/>
            <a:ext cx="5760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Develop Web &amp; Mobile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429000"/>
            <a:ext cx="6949440" cy="658368"/>
          </a:xfrm>
          <a:prstGeom prst="roundRect">
            <a:avLst/>
          </a:prstGeom>
          <a:solidFill>
            <a:srgbClr val="F9FAF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520440"/>
            <a:ext cx="5760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Implement ML-based Supplier Recommendation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206240"/>
            <a:ext cx="6949440" cy="658368"/>
          </a:xfrm>
          <a:prstGeom prst="roundRect">
            <a:avLst/>
          </a:prstGeom>
          <a:solidFill>
            <a:srgbClr val="F9FAF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2519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297680"/>
            <a:ext cx="5760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Introduce Demand Forecasting Capabilities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983480"/>
            <a:ext cx="6949440" cy="658368"/>
          </a:xfrm>
          <a:prstGeom prst="roundRect">
            <a:avLst/>
          </a:prstGeom>
          <a:solidFill>
            <a:srgbClr val="F9FAF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0292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074920"/>
            <a:ext cx="5760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Enable Real-time Communication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760720"/>
            <a:ext cx="6949440" cy="658368"/>
          </a:xfrm>
          <a:prstGeom prst="roundRect">
            <a:avLst/>
          </a:prstGeom>
          <a:solidFill>
            <a:srgbClr val="F9FAF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8064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852160"/>
            <a:ext cx="5760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Provide Centralized Supplier Directory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Platform Features - 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931920" cy="4572000"/>
          </a:xfrm>
          <a:prstGeom prst="round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🏪 For Retailers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Browse and compare products from multiple suppliers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Place bulk orders with cart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Track order status in real-time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Rate and review suppliers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Receive personalized supplier recommendations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463040"/>
            <a:ext cx="3931920" cy="4572000"/>
          </a:xfrm>
          <a:prstGeom prst="roundRect">
            <a:avLst/>
          </a:prstGeom>
          <a:gradFill rotWithShape="1">
            <a:gsLst>
              <a:gs pos="0">
                <a:srgbClr val="F59E0B"/>
              </a:gs>
              <a:gs pos="100000">
                <a:srgbClr val="F97316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60020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🏭 For Distributors/Factories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2860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Manage product listings and 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004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Approve/reject incoming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1148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Broadcast promotional announcements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50292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View demand analytics and sales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Platform Features - Smart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7315200" cy="1188720"/>
          </a:xfrm>
          <a:prstGeom prst="roundRect">
            <a:avLst/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🤖 Supplier Recommendation System</a:t>
            </a:r>
          </a:p>
          <a:p>
            <a:pPr algn="ctr"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Ranks suppliers based on price, distance, performance, and user preferences.</a:t>
            </a:r>
            <a:br/>
            <a:r>
              <a:t>Personalized recommendations for each retailer.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834640"/>
            <a:ext cx="7315200" cy="1188720"/>
          </a:xfrm>
          <a:prstGeom prst="roundRect">
            <a:avLst/>
          </a:prstGeom>
          <a:gradFill rotWithShape="1">
            <a:gsLst>
              <a:gs pos="0">
                <a:srgbClr val="10B981"/>
              </a:gs>
              <a:gs pos="100000">
                <a:srgbClr val="05966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📈 Demand Forecasting</a:t>
            </a:r>
          </a:p>
          <a:p>
            <a:pPr algn="ctr"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Predicts future product demand for manufacturers.</a:t>
            </a:r>
            <a:br/>
            <a:r>
              <a:t>Reduces stockouts and overstock situations.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389120"/>
            <a:ext cx="1737360" cy="1463040"/>
          </a:xfrm>
          <a:prstGeom prst="roundRect">
            <a:avLst/>
          </a:prstGeom>
          <a:gradFill rotWithShape="1">
            <a:gsLst>
              <a:gs pos="0">
                <a:srgbClr val="2563EB"/>
              </a:gs>
              <a:gs pos="100000">
                <a:srgbClr val="1D4ED8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25780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Real-time GPS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4389120"/>
            <a:ext cx="1737360" cy="1463040"/>
          </a:xfrm>
          <a:prstGeom prst="roundRect">
            <a:avLst/>
          </a:prstGeom>
          <a:gradFill rotWithShape="1">
            <a:gsLst>
              <a:gs pos="0">
                <a:srgbClr val="EC4899"/>
              </a:gs>
              <a:gs pos="100000">
                <a:srgbClr val="DB2777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457200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525780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Chapa Payment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4389120"/>
            <a:ext cx="1737360" cy="1463040"/>
          </a:xfrm>
          <a:prstGeom prst="roundRect">
            <a:avLst/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457200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525780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Auto Notifications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4389120"/>
            <a:ext cx="1737360" cy="1463040"/>
          </a:xfrm>
          <a:prstGeom prst="roundRect">
            <a:avLst/>
          </a:prstGeom>
          <a:gradFill rotWithShape="1">
            <a:gsLst>
              <a:gs pos="0">
                <a:srgbClr val="10B981"/>
              </a:gs>
              <a:gs pos="100000">
                <a:srgbClr val="059669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457200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525780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In-App Chat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9FAF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Three-Tier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554480"/>
            <a:ext cx="6400800" cy="1371600"/>
          </a:xfrm>
          <a:prstGeom prst="round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69164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Presentation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48840"/>
            <a:ext cx="6035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Mobile App (Android) • Web Application • User Interface Components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108960"/>
            <a:ext cx="6400800" cy="1371600"/>
          </a:xfrm>
          <a:prstGeom prst="roundRect">
            <a:avLst/>
          </a:prstGeom>
          <a:gradFill rotWithShape="1">
            <a:gsLst>
              <a:gs pos="0">
                <a:srgbClr val="10B981"/>
              </a:gs>
              <a:gs pos="100000">
                <a:srgbClr val="05966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24612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Application Layer (Node.js + Express)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703320"/>
            <a:ext cx="6035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Authentication &amp; Authorization • Business Logic • API Services • ML Model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029200"/>
            <a:ext cx="6400800" cy="1371600"/>
          </a:xfrm>
          <a:prstGeom prst="roundRect">
            <a:avLst/>
          </a:prstGeom>
          <a:gradFill rotWithShape="1">
            <a:gsLst>
              <a:gs pos="0">
                <a:srgbClr val="F59E0B"/>
              </a:gs>
              <a:gs pos="100000">
                <a:srgbClr val="F9731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516636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Data Layer (MySQL)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623560"/>
            <a:ext cx="6035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User Data • Products &amp; Orders • Analytics &amp; Logs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114800" y="3017520"/>
            <a:ext cx="914400" cy="457200"/>
          </a:xfrm>
          <a:prstGeom prst="down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4114800" y="4663440"/>
            <a:ext cx="914400" cy="457200"/>
          </a:xfrm>
          <a:prstGeom prst="down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7315200" cy="731520"/>
          </a:xfrm>
          <a:prstGeom prst="round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4592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⚛️ React.js with TypeScript • 🎨 Tailwind CSS • 📊 Zustand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7315200" cy="731520"/>
          </a:xfrm>
          <a:prstGeom prst="roundRect">
            <a:avLst/>
          </a:prstGeom>
          <a:gradFill rotWithShape="1">
            <a:gsLst>
              <a:gs pos="0">
                <a:srgbClr val="10B981"/>
              </a:gs>
              <a:gs pos="100000">
                <a:srgbClr val="05966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56032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🟢 Node.js with Express • 🔐 JWT Authentication • 📡 RESTful APIs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83280"/>
            <a:ext cx="7315200" cy="731520"/>
          </a:xfrm>
          <a:prstGeom prst="roundRect">
            <a:avLst/>
          </a:prstGeom>
          <a:gradFill rotWithShape="1">
            <a:gsLst>
              <a:gs pos="0">
                <a:srgbClr val="F59E0B"/>
              </a:gs>
              <a:gs pos="100000">
                <a:srgbClr val="F9731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47472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🗄️ MySQL with Sequelize 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97680"/>
            <a:ext cx="7315200" cy="731520"/>
          </a:xfrm>
          <a:prstGeom prst="roundRect">
            <a:avLst/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Machine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38912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🐍 Python • 📚 Scikit-learn, Pandas, NumPy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212080"/>
            <a:ext cx="7315200" cy="731520"/>
          </a:xfrm>
          <a:prstGeom prst="roundRect">
            <a:avLst/>
          </a:prstGeom>
          <a:gradFill rotWithShape="1">
            <a:gsLst>
              <a:gs pos="0">
                <a:srgbClr val="EC4899"/>
              </a:gs>
              <a:gs pos="100000">
                <a:srgbClr val="DB277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30352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30352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💰 Chapa Payment Gateway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Multi-Role Access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7315200" cy="7772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/>
            </a:pPr>
            <a:r>
              <a:t>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91640"/>
            <a:ext cx="1371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Retailer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69164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Browse products, Place orders, Track deliveries, Rate suppliers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68880"/>
            <a:ext cx="7315200" cy="7772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603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/>
            </a:pPr>
            <a:r>
              <a:t>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606040"/>
            <a:ext cx="1371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Factory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0604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Manage products, Approve orders, View demand forecasts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83280"/>
            <a:ext cx="7315200" cy="7772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747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/>
            </a:pPr>
            <a:r>
              <a:t>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520440"/>
            <a:ext cx="1371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Distributor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2044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Buy &amp; sell, Manage inventory, Fulfill orders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97680"/>
            <a:ext cx="7315200" cy="7772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3891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/>
            </a:pPr>
            <a:r>
              <a:t>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434840"/>
            <a:ext cx="1371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8B5CF6"/>
                </a:solidFill>
              </a:defRPr>
            </a:pPr>
            <a:r>
              <a:t>Driver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43484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View assignments, Update delivery status, Track routes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212080"/>
            <a:ext cx="7315200" cy="7772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3035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/>
            </a:pPr>
            <a:r>
              <a:t>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349240"/>
            <a:ext cx="1371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EC4899"/>
                </a:solidFill>
              </a:defRPr>
            </a:pPr>
            <a:r>
              <a:t>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34924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Manage users, Approve suppliers, Monitor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Core Data Entities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2103120"/>
          </a:xfrm>
          <a:prstGeom prst="round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/>
            </a:pPr>
            <a:r>
              <a:t>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retailers, suppliers,</a:t>
            </a:r>
          </a:p>
          <a:p>
            <a:r>
              <a:t>drivers, admins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2103120"/>
          </a:xfrm>
          <a:prstGeom prst="round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82880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/>
            </a:pPr>
            <a:r>
              <a:t>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01752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name, price, stock,</a:t>
            </a:r>
          </a:p>
          <a:p>
            <a:r>
              <a:t>MOQ, images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468880" cy="2103120"/>
          </a:xfrm>
          <a:prstGeom prst="round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/>
            </a:pPr>
            <a:r>
              <a:t>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6888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1752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status, items,</a:t>
            </a:r>
          </a:p>
          <a:p>
            <a:r>
              <a:t>tracking, payments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2468880" cy="2103120"/>
          </a:xfrm>
          <a:prstGeom prst="round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/>
            </a:pPr>
            <a: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Messages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in-app chat</a:t>
            </a:r>
          </a:p>
          <a:p>
            <a:r>
              <a:t>history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4114800"/>
            <a:ext cx="2468880" cy="2103120"/>
          </a:xfrm>
          <a:prstGeom prst="round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429768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/>
            </a:pPr>
            <a:r>
              <a:t>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93776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Ratings &amp;</a:t>
            </a:r>
          </a:p>
          <a:p>
            <a:r>
              <a:t>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548640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supplier performance</a:t>
            </a:r>
          </a:p>
          <a:p>
            <a:r>
              <a:t>metrics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114800"/>
            <a:ext cx="2468880" cy="2103120"/>
          </a:xfrm>
          <a:prstGeom prst="round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29768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/>
            </a:pPr>
            <a:r>
              <a:t>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93776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Payments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48640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transactions, methods,</a:t>
            </a:r>
          </a:p>
          <a:p>
            <a:r>
              <a:t>status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Intelligent Supplier Ranking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920240" cy="1645920"/>
          </a:xfrm>
          <a:prstGeom prst="roundRect">
            <a:avLst/>
          </a:prstGeom>
          <a:gradFill rotWithShape="1">
            <a:gsLst>
              <a:gs pos="0">
                <a:srgbClr val="2563EB"/>
              </a:gs>
              <a:gs pos="100000">
                <a:srgbClr val="1D4ED8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Collects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Price, delivery time,</a:t>
            </a:r>
          </a:p>
          <a:p>
            <a:r>
              <a:t>ratings, location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61488" y="2240280"/>
            <a:ext cx="146304" cy="27432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1554480"/>
            <a:ext cx="1920240" cy="1645920"/>
          </a:xfrm>
          <a:prstGeom prst="roundRect">
            <a:avLst/>
          </a:prstGeom>
          <a:gradFill rotWithShape="1">
            <a:gsLst>
              <a:gs pos="0">
                <a:srgbClr val="10B981"/>
              </a:gs>
              <a:gs pos="100000">
                <a:srgbClr val="059669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6916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40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Trains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51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Random Forest</a:t>
            </a:r>
          </a:p>
          <a:p>
            <a:r>
              <a:t>Classifier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64608" y="2240280"/>
            <a:ext cx="146304" cy="27432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1554480"/>
            <a:ext cx="1920240" cy="1645920"/>
          </a:xfrm>
          <a:prstGeom prst="roundRect">
            <a:avLst/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6916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240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Generates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651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Ranks suppliers</a:t>
            </a:r>
          </a:p>
          <a:p>
            <a:r>
              <a:t>for each retailer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67728" y="2240280"/>
            <a:ext cx="146304" cy="27432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0" y="1554480"/>
            <a:ext cx="1920240" cy="1645920"/>
          </a:xfrm>
          <a:prstGeom prst="roundRect">
            <a:avLst/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6916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240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Personalizes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651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Based on past</a:t>
            </a:r>
          </a:p>
          <a:p>
            <a:r>
              <a:t>preferences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474720"/>
            <a:ext cx="731520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365760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Features Used for Ranking: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976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✓ Price competitiveness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645152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✓ On-time delivery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992624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✓ Quality ratings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4009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✓ Fulfillment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687568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F2937"/>
                </a:solidFill>
              </a:defRPr>
            </a:pPr>
            <a:r>
              <a:t>✓ Communication responsiveness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Predictive Demand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7315200" cy="1005840"/>
          </a:xfrm>
          <a:prstGeom prst="roundRect">
            <a:avLst/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Purpose: 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Help manufacturers plan production based on predicted future demand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3931920" cy="3108960"/>
          </a:xfrm>
          <a:prstGeom prst="round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Algorithm: Linear Regression,</a:t>
            </a:r>
          </a:p>
          <a:p>
            <a:r>
              <a:t>Random Forest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9651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Features: Historical demand,</a:t>
            </a:r>
          </a:p>
          <a:p>
            <a:r>
              <a:t>moving averages, 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1830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Output: Predicted demand</a:t>
            </a:r>
          </a:p>
          <a:p>
            <a:r>
              <a:t>quantities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4009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Evaluation: MAE, RMSE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743200"/>
            <a:ext cx="3931920" cy="3108960"/>
          </a:xfrm>
          <a:prstGeom prst="roundRect">
            <a:avLst/>
          </a:prstGeom>
          <a:gradFill rotWithShape="1">
            <a:gsLst>
              <a:gs pos="0">
                <a:srgbClr val="10B981"/>
              </a:gs>
              <a:gs pos="100000">
                <a:srgbClr val="059669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288036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Benefits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474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✅ Reduce stockouts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114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✅ Minimize overproduction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754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✅ Optimize inventory</a:t>
            </a:r>
          </a:p>
          <a:p>
            <a:r>
              <a:t>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53949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✅ Data-driven production</a:t>
            </a:r>
          </a:p>
          <a:p>
            <a:r>
              <a:t>planning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Secure Payment 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463040"/>
            <a:ext cx="4572000" cy="822960"/>
          </a:xfrm>
          <a:prstGeom prst="roundRect">
            <a:avLst/>
          </a:prstGeom>
          <a:gradFill rotWithShape="1">
            <a:gsLst>
              <a:gs pos="0">
                <a:srgbClr val="EC4899"/>
              </a:gs>
              <a:gs pos="100000">
                <a:srgbClr val="DB277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💰 Chapa Payment 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3931920" cy="32918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✅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• NBE Directive ONPS/10/2025</a:t>
            </a:r>
          </a:p>
          <a:p>
            <a:r>
              <a:t>(Transaction limits)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• KYC/AML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• Split-payment mechanism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• Secure record keeping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560320"/>
            <a:ext cx="3931920" cy="32918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26974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💳 Supported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2918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• Mobile wallets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703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• E-money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1148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• Bank transfers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48056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🔐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4937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• Encrypted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533095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• JWT 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5724144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• Transaction logging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Expected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651760" cy="438912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651760" cy="640080"/>
          </a:xfrm>
          <a:prstGeom prst="roundRect">
            <a:avLst/>
          </a:prstGeom>
          <a:gradFill rotWithShape="1">
            <a:gsLst>
              <a:gs pos="0">
                <a:srgbClr val="2563EB"/>
              </a:gs>
              <a:gs pos="100000">
                <a:srgbClr val="3B82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For Retailers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⚡ Faster procurement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9067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💰 Better price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95344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📊 Improved supplier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0016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🎯 Personalized 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651760" cy="438912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463040"/>
            <a:ext cx="2651760" cy="640080"/>
          </a:xfrm>
          <a:prstGeom prst="roundRect">
            <a:avLst/>
          </a:prstGeom>
          <a:gradFill rotWithShape="1">
            <a:gsLst>
              <a:gs pos="0">
                <a:srgbClr val="10B981"/>
              </a:gs>
              <a:gs pos="100000">
                <a:srgbClr val="05966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For Suppliers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86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📈 Expanded market 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09067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🤝 Direct buyer connections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895344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📉 Reduced manual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700016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📊 Access to demand insights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63040"/>
            <a:ext cx="2651760" cy="438912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1463040"/>
            <a:ext cx="2651760" cy="640080"/>
          </a:xfrm>
          <a:prstGeom prst="roundRect">
            <a:avLst/>
          </a:prstGeom>
          <a:gradFill rotWithShape="1">
            <a:gsLst>
              <a:gs pos="0">
                <a:srgbClr val="F59E0B"/>
              </a:gs>
              <a:gs pos="100000">
                <a:srgbClr val="F9731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For the Industry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286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🌐 Digital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09067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📉 Reduced inefficiencies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895344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🔍 Increased transparency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700016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📈 Data-driven decisions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Project Feasibility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651760" cy="420624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563EB"/>
                </a:solidFill>
              </a:defRPr>
            </a:pPr>
            <a:r>
              <a:t>Technical Feasibility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• Proven technologies</a:t>
            </a:r>
          </a:p>
          <a:p>
            <a:r>
              <a:t>(React, Node.js, MySQL)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• Team has required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• No specialized hardware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45920"/>
            <a:ext cx="2651760" cy="420624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82880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5176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10B981"/>
                </a:solidFill>
              </a:defRPr>
            </a:pPr>
            <a:r>
              <a:t>Operational Feasibility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383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• User-friendly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160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• Supports existing</a:t>
            </a:r>
          </a:p>
          <a:p>
            <a:r>
              <a:t>business practices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937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• Mobile-first approach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645920"/>
            <a:ext cx="2651760" cy="420624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82880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F59E0B"/>
                </a:solidFill>
              </a:defRPr>
            </a:pPr>
            <a:r>
              <a:t>Economic Feasibility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383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• Low development cost</a:t>
            </a:r>
          </a:p>
          <a:p>
            <a:r>
              <a:t>(~9,500 ETB)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160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• Open-source technologies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937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• Revenue through fees &amp; ads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Agile &amp; Incremental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8288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/>
            </a:pPr>
            <a: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Requirements gathering</a:t>
            </a:r>
          </a:p>
          <a:p>
            <a:r>
              <a:t>(Week 1-2)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18288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7830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/>
            </a:pPr>
            <a: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3172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78892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UML design, data modeling</a:t>
            </a:r>
          </a:p>
          <a:p>
            <a:r>
              <a:t>(Week 3-8)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468880" cy="18288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7830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/>
            </a:pPr>
            <a:r>
              <a:t>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33172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8892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Architecture, UI/UX</a:t>
            </a:r>
          </a:p>
          <a:p>
            <a:r>
              <a:t>(Week 8-12)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2468880" cy="18288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7764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/>
            </a:pPr>
            <a:r>
              <a:t>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2628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8348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Frontend, backend, ML</a:t>
            </a:r>
          </a:p>
          <a:p>
            <a:r>
              <a:t>(Week 13-15)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840480"/>
            <a:ext cx="2468880" cy="182880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397764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/>
            </a:pPr>
            <a:r>
              <a:t>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52628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98348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System validation</a:t>
            </a:r>
          </a:p>
          <a:p>
            <a:r>
              <a:t>(Week 15-16)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840480"/>
            <a:ext cx="2468880" cy="18288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97764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/>
            </a:pPr>
            <a:r>
              <a:t>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52628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Documentation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98348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Final reports</a:t>
            </a:r>
          </a:p>
          <a:p>
            <a:r>
              <a:t>(Week 17-18)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5943600"/>
            <a:ext cx="4572000" cy="640080"/>
          </a:xfrm>
          <a:prstGeom prst="roundRect">
            <a:avLst/>
          </a:prstGeom>
          <a:gradFill rotWithShape="1">
            <a:gsLst>
              <a:gs pos="0">
                <a:srgbClr val="10B981"/>
              </a:gs>
              <a:gs pos="100000">
                <a:srgbClr val="05966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Timeline: ~18 weeks (2 semesters)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Acknowledged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7315200" cy="640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/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45920"/>
            <a:ext cx="6035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Limited initial ML training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7315200" cy="640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/>
            </a:pPr>
            <a: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377440"/>
            <a:ext cx="6035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Dependency on stable internet connectivity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17520"/>
            <a:ext cx="7315200" cy="640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0632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/>
            </a:pPr>
            <a:r>
              <a:t>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108960"/>
            <a:ext cx="6035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Resistance to digital adoption from traditional businesses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49040"/>
            <a:ext cx="7315200" cy="640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79476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/>
            </a:pPr>
            <a:r>
              <a:t>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840480"/>
            <a:ext cx="6035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Reliance on third-party payment providers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80560"/>
            <a:ext cx="7315200" cy="640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52628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/>
            </a:pPr>
            <a:r>
              <a:t>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572000"/>
            <a:ext cx="6035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User training needs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937760"/>
            <a:ext cx="7315200" cy="1737360"/>
          </a:xfrm>
          <a:prstGeom prst="roundRect">
            <a:avLst/>
          </a:prstGeom>
          <a:gradFill rotWithShape="1">
            <a:gsLst>
              <a:gs pos="0">
                <a:srgbClr val="10B981"/>
              </a:gs>
              <a:gs pos="100000">
                <a:srgbClr val="05966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074920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🛡️ Mitigation Strategies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6692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✓ Hybrid ML approach (rule-based + data-driven)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60350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✓ Offline capabilities for critical functions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✓ User onboarding and support 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Roadmap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840480" cy="868680"/>
          </a:xfrm>
          <a:prstGeom prst="roundRect">
            <a:avLst/>
          </a:prstGeom>
          <a:solidFill>
            <a:srgbClr val="F9FAF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/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91640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Support for additional product categories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554480"/>
            <a:ext cx="3840480" cy="868680"/>
          </a:xfrm>
          <a:prstGeom prst="roundRect">
            <a:avLst/>
          </a:prstGeom>
          <a:solidFill>
            <a:srgbClr val="F9FAF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6916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/>
            </a:pPr>
            <a: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691640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Advanced AI-powered chatbot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3840480" cy="868680"/>
          </a:xfrm>
          <a:prstGeom prst="roundRect">
            <a:avLst/>
          </a:prstGeom>
          <a:solidFill>
            <a:srgbClr val="F9FAF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/>
            </a:pPr>
            <a: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43200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iOS mobile 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2606040"/>
            <a:ext cx="3840480" cy="868680"/>
          </a:xfrm>
          <a:prstGeom prst="roundRect">
            <a:avLst/>
          </a:prstGeom>
          <a:solidFill>
            <a:srgbClr val="F9FAF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7432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/>
            </a:pPr>
            <a: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743200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Multi-language support (Amharic, Oromifa, etc.)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3840480" cy="868680"/>
          </a:xfrm>
          <a:prstGeom prst="roundRect">
            <a:avLst/>
          </a:prstGeom>
          <a:solidFill>
            <a:srgbClr val="F9FAF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/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94760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Advanced analytics dashboards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3657600"/>
            <a:ext cx="3840480" cy="868680"/>
          </a:xfrm>
          <a:prstGeom prst="roundRect">
            <a:avLst/>
          </a:prstGeom>
          <a:solidFill>
            <a:srgbClr val="F9FAF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379476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/>
            </a:pPr>
            <a:r>
              <a:t>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794760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Integration with ERP systems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09160"/>
            <a:ext cx="3840480" cy="868680"/>
          </a:xfrm>
          <a:prstGeom prst="roundRect">
            <a:avLst/>
          </a:prstGeom>
          <a:solidFill>
            <a:srgbClr val="F9FAF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463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/>
            </a:pPr>
            <a:r>
              <a:t>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46320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Advanced logistics optimization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4709160"/>
            <a:ext cx="3840480" cy="868680"/>
          </a:xfrm>
          <a:prstGeom prst="roundRect">
            <a:avLst/>
          </a:prstGeom>
          <a:solidFill>
            <a:srgbClr val="F9FAF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48463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/>
            </a:pPr>
            <a:r>
              <a:t>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846320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Blockchain for supply chain transparency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563EB"/>
            </a:gs>
            <a:gs pos="100000">
              <a:srgbClr val="3B82F6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554480"/>
            <a:ext cx="69494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9164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TradeBridge delivers: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2860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✅ Centralized B2B marketplace for Ethiopian wholesale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✅ Smart supplier recommendations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2004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✅ Real-time tracking &amp; secure payments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6576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✅ Improved efficiency across the supply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749039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Expected Outcomes: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20624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• Digital transformation of wholesale procurement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48056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• Reduced operational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75488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• Enhanced transparency and trust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5120640"/>
            <a:ext cx="5852160" cy="731520"/>
          </a:xfrm>
          <a:prstGeom prst="roundRect">
            <a:avLst/>
          </a:prstGeom>
          <a:gradFill rotWithShape="1">
            <a:gsLst>
              <a:gs pos="0">
                <a:srgbClr val="10B981"/>
              </a:gs>
              <a:gs pos="100000">
                <a:srgbClr val="05966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🚀 Status: Prototype completed, ready for deployment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0B981"/>
            </a:gs>
            <a:gs pos="100000">
              <a:srgbClr val="059669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Advisor: Dr. Ejigu Tefere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Adama Science and Technology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Hidaya Nurmeka • Ebisa Gutema • Hana Kebede • Hana Jote • Ilham Mohammedhassen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